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12" r:id="rId5"/>
    <p:sldId id="304" r:id="rId6"/>
    <p:sldId id="307" r:id="rId7"/>
    <p:sldId id="281" r:id="rId8"/>
    <p:sldId id="323" r:id="rId9"/>
    <p:sldId id="325" r:id="rId10"/>
    <p:sldId id="326" r:id="rId11"/>
    <p:sldId id="324" r:id="rId12"/>
    <p:sldId id="328" r:id="rId13"/>
    <p:sldId id="282" r:id="rId14"/>
    <p:sldId id="327" r:id="rId15"/>
    <p:sldId id="297" r:id="rId16"/>
  </p:sldIdLst>
  <p:sldSz cx="12192000" cy="6858000"/>
  <p:notesSz cx="13716000" cy="24384000"/>
  <p:defaultTextStyle>
    <a:defPPr rtl="0">
      <a:defRPr lang="fr-FR"/>
    </a:defPPr>
    <a:lvl1pPr marL="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fr-F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6"/>
    <a:srgbClr val="202C8F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388" autoAdjust="0"/>
  </p:normalViewPr>
  <p:slideViewPr>
    <p:cSldViewPr snapToGrid="0" snapToObjects="1">
      <p:cViewPr varScale="1">
        <p:scale>
          <a:sx n="61" d="100"/>
          <a:sy n="61" d="100"/>
        </p:scale>
        <p:origin x="109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1" d="100"/>
          <a:sy n="31" d="100"/>
        </p:scale>
        <p:origin x="4392" y="1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fr-FR" sz="1200"/>
            </a:lvl1pPr>
          </a:lstStyle>
          <a:p>
            <a:pPr rtl="0"/>
            <a:fld id="{A7C9947C-0B99-4CC9-AA3C-4A4AC8D4662C}" type="datetimeyyyy">
              <a:rPr lang="fr-FR" smtClean="0"/>
              <a:t>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fr-FR"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fr-FR" sz="1200"/>
            </a:lvl1pPr>
          </a:lstStyle>
          <a:p>
            <a:pPr rtl="0"/>
            <a:fld id="{420BD0AB-C59E-4A46-83D3-F07787446BA0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fr-FR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0" name="Freeform: Forme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reeform: Form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e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orme libre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8" name="Forme libre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grpSp>
        <p:nvGrpSpPr>
          <p:cNvPr id="9" name="Groupe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orme libre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  <p:sp>
          <p:nvSpPr>
            <p:cNvPr id="11" name="Forme libre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14" name="Image 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fr-FR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fr-FR" sz="18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Forme 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15" name="Freeform: Forme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 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2" name="Titr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8" name="Espace réservé d’image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36" name="Forme libre 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3" name="Forme libre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lvl="0" algn="ctr" rtl="0"/>
            <a:endParaRPr lang="fr-FR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Cliquer pour ajouter du texte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52" name="Espace réservé d’image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 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53" name="Freeform: Forme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9" name="Forme libre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1" name="Forme libre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33" name="Image 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numéro de diapositive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3" name="Image 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Forme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7" name="Image 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19" name="Image 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 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e libre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8" name="Forme libre 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6" name="Forme libre 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0" name="Titr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9" name="Espace réservé du numéro de diapositive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3" name="Espace réservé du contenu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5" name="Espace réservé du contenu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marL="283464" indent="-283464">
              <a:spcBef>
                <a:spcPts val="1000"/>
              </a:spcBef>
              <a:defRPr lang="fr-FR" sz="1800"/>
            </a:lvl2pPr>
            <a:lvl3pPr marL="283464" indent="-283464">
              <a:spcBef>
                <a:spcPts val="1000"/>
              </a:spcBef>
              <a:defRPr lang="fr-FR" sz="1800"/>
            </a:lvl3pPr>
            <a:lvl4pPr marL="283464" indent="-283464">
              <a:spcBef>
                <a:spcPts val="1000"/>
              </a:spcBef>
              <a:defRPr lang="fr-FR" sz="1800"/>
            </a:lvl4pPr>
            <a:lvl5pPr marL="283464"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fr-FR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fr-FR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fr-FR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fr-FR" sz="1800"/>
            </a:lvl1pPr>
            <a:lvl2pPr indent="-283464">
              <a:spcBef>
                <a:spcPts val="1000"/>
              </a:spcBef>
              <a:defRPr lang="fr-FR" sz="1800"/>
            </a:lvl2pPr>
            <a:lvl3pPr indent="-283464">
              <a:spcBef>
                <a:spcPts val="1000"/>
              </a:spcBef>
              <a:defRPr lang="fr-FR" sz="1800"/>
            </a:lvl3pPr>
            <a:lvl4pPr indent="-283464">
              <a:spcBef>
                <a:spcPts val="1000"/>
              </a:spcBef>
              <a:defRPr lang="fr-FR" sz="1800"/>
            </a:lvl4pPr>
            <a:lvl5pPr indent="-283464"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31" name="Espace réservé d’image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fr-FR" sz="1800"/>
            </a:lvl1pPr>
          </a:lstStyle>
          <a:p>
            <a:pPr lvl="0" rtl="0"/>
            <a:r>
              <a:rPr lang="fr-FR"/>
              <a:t>Cliquez ici pour ajouter une image.</a:t>
            </a:r>
          </a:p>
        </p:txBody>
      </p:sp>
      <p:grpSp>
        <p:nvGrpSpPr>
          <p:cNvPr id="32" name="Groupe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Forme 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/>
            </a:p>
          </p:txBody>
        </p:sp>
        <p:sp>
          <p:nvSpPr>
            <p:cNvPr id="21" name="Forme libre : Forme 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Forme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fr-FR"/>
              </a:defPPr>
            </a:lstStyle>
            <a:p>
              <a:pPr lvl="0" rtl="0"/>
              <a:endParaRPr lang="fr-FR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 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fr-FR"/>
              </a:defPPr>
            </a:lstStyle>
            <a:p>
              <a:pPr rtl="0"/>
              <a:endParaRPr lang="fr-FR" dirty="0"/>
            </a:p>
          </p:txBody>
        </p:sp>
      </p:grpSp>
      <p:sp>
        <p:nvSpPr>
          <p:cNvPr id="44" name="Espace réservé du numéro de diapositive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e libre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6" name="Image 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4" name="Forme libre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21" name="Image 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orme libre 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fr-FR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fr-FR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fr-FR" sz="2400"/>
            </a:lvl3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</p:txBody>
      </p:sp>
      <p:sp>
        <p:nvSpPr>
          <p:cNvPr id="10" name="Espace réservé d’image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fr-FR" sz="1800"/>
            </a:lvl1pPr>
          </a:lstStyle>
          <a:p>
            <a:pPr rtl="0"/>
            <a:r>
              <a:rPr lang="fr-FR"/>
              <a:t>Cliquez sur l'icône pour ajouter une image</a:t>
            </a:r>
            <a:endParaRPr lang="fr-FR" dirty="0"/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e libre 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/>
          </a:p>
        </p:txBody>
      </p:sp>
      <p:sp>
        <p:nvSpPr>
          <p:cNvPr id="10" name="Forme libre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0" name="Image 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" name="Espace réservé du texte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fr-FR" sz="1800"/>
            </a:lvl1pPr>
          </a:lstStyle>
          <a:p>
            <a:pPr rtl="0"/>
            <a:r>
              <a:rPr lang="fr-FR"/>
              <a:t>Cliquez pour ajouter un sous-titre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fr-FR" sz="1800"/>
            </a:lvl1pPr>
            <a:lvl2pPr>
              <a:defRPr lang="fr-FR" sz="1800"/>
            </a:lvl2pPr>
            <a:lvl3pPr>
              <a:defRPr lang="fr-FR" sz="1800"/>
            </a:lvl3pPr>
            <a:lvl4pPr>
              <a:defRPr lang="fr-FR" sz="1800"/>
            </a:lvl4pPr>
            <a:lvl5pPr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0" name="Espace réservé du numéro de diapositive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ésumé 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sme 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fr-FR" sz="3600" b="1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49" name="Forme libre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sp>
        <p:nvSpPr>
          <p:cNvPr id="16" name="Espace réservé du contenu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8" name="Espace réservé du contenu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27" name="Espace réservé du numéro de diapositive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43" name="Graphisme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sme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 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ronologie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fr-FR"/>
            </a:defPPr>
          </a:lstStyle>
          <a:p>
            <a:pPr algn="ctr" rtl="0"/>
            <a:endParaRPr lang="fr-FR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</a:lstStyle>
          <a:p>
            <a:pPr algn="ctr" rtl="0"/>
            <a:endParaRPr lang="fr-FR" sz="16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fr-FR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14" name="Espace réservé du contenu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fr-FR" sz="1800"/>
            </a:lvl1pPr>
            <a:lvl2pPr>
              <a:spcBef>
                <a:spcPts val="1000"/>
              </a:spcBef>
              <a:defRPr lang="fr-FR" sz="1800"/>
            </a:lvl2pPr>
            <a:lvl3pPr>
              <a:spcBef>
                <a:spcPts val="1000"/>
              </a:spcBef>
              <a:defRPr lang="fr-FR" sz="1800"/>
            </a:lvl3pPr>
            <a:lvl4pPr>
              <a:spcBef>
                <a:spcPts val="1000"/>
              </a:spcBef>
              <a:defRPr lang="fr-FR" sz="1800"/>
            </a:lvl4pPr>
            <a:lvl5pPr>
              <a:spcBef>
                <a:spcPts val="1000"/>
              </a:spcBef>
              <a:defRPr lang="fr-FR" sz="1800"/>
            </a:lvl5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  <p:sp>
        <p:nvSpPr>
          <p:cNvPr id="16" name="Espace réservé du numéro de diapositive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fr-FR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ôtur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Forme 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9" name="Forme libre : Forme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fr-FR"/>
            </a:defPPr>
          </a:lstStyle>
          <a:p>
            <a:pPr rtl="0"/>
            <a:endParaRPr lang="fr-FR" dirty="0"/>
          </a:p>
        </p:txBody>
      </p:sp>
      <p:pic>
        <p:nvPicPr>
          <p:cNvPr id="9" name="Image 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fr-FR" sz="36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fr-FR" sz="2400"/>
            </a:lvl1pPr>
            <a:lvl2pPr marL="457200" indent="0" algn="ctr">
              <a:buNone/>
              <a:defRPr lang="fr-FR" sz="2000"/>
            </a:lvl2pPr>
            <a:lvl3pPr marL="914400" indent="0" algn="ctr">
              <a:buNone/>
              <a:defRPr lang="fr-FR" sz="1800"/>
            </a:lvl3pPr>
            <a:lvl4pPr marL="1371600" indent="0" algn="ctr">
              <a:buNone/>
              <a:defRPr lang="fr-FR" sz="1600"/>
            </a:lvl4pPr>
            <a:lvl5pPr marL="1828800" indent="0" algn="ctr">
              <a:buNone/>
              <a:defRPr lang="fr-FR" sz="1600"/>
            </a:lvl5pPr>
            <a:lvl6pPr marL="2286000" indent="0" algn="ctr">
              <a:buNone/>
              <a:defRPr lang="fr-FR" sz="1600"/>
            </a:lvl6pPr>
            <a:lvl7pPr marL="2743200" indent="0" algn="ctr">
              <a:buNone/>
              <a:defRPr lang="fr-FR" sz="1600"/>
            </a:lvl7pPr>
            <a:lvl8pPr marL="3200400" indent="0" algn="ctr">
              <a:buNone/>
              <a:defRPr lang="fr-FR" sz="1600"/>
            </a:lvl8pPr>
            <a:lvl9pPr marL="3657600" indent="0" algn="ctr">
              <a:buNone/>
              <a:defRPr lang="fr-FR" sz="1600"/>
            </a:lvl9pPr>
          </a:lstStyle>
          <a:p>
            <a:pPr rtl="0"/>
            <a:r>
              <a:rPr lang="fr-FR"/>
              <a:t>Cliquez pour ajouter un sous-titre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 : Forme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9" name="Forme libre : Forme 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fr-FR"/>
            </a:def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8" name="Forme libre : Forme 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fr-FR" sz="3200"/>
            </a:lvl1pPr>
            <a:lvl2pPr>
              <a:defRPr lang="fr-FR" sz="2800"/>
            </a:lvl2pPr>
            <a:lvl3pPr>
              <a:defRPr lang="fr-FR" sz="2400"/>
            </a:lvl3pPr>
            <a:lvl4pPr>
              <a:defRPr lang="fr-FR" sz="2000"/>
            </a:lvl4pPr>
            <a:lvl5pPr>
              <a:defRPr lang="fr-FR" sz="2000"/>
            </a:lvl5pPr>
            <a:lvl6pPr>
              <a:defRPr lang="fr-FR" sz="2000"/>
            </a:lvl6pPr>
            <a:lvl7pPr>
              <a:defRPr lang="fr-FR" sz="2000"/>
            </a:lvl7pPr>
            <a:lvl8pPr>
              <a:defRPr lang="fr-FR" sz="2000"/>
            </a:lvl8pPr>
            <a:lvl9pPr>
              <a:defRPr lang="fr-FR" sz="2000"/>
            </a:lvl9pPr>
          </a:lstStyle>
          <a:p>
            <a:pPr lvl="0" rtl="0"/>
            <a:r>
              <a:rPr lang="fr-FR"/>
              <a:t>Cliquer pour ajouter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Forme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fr-FR"/>
            </a:defPPr>
          </a:lstStyle>
          <a:p>
            <a:pPr lvl="0" rtl="0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fr-FR" sz="3200"/>
            </a:lvl1pPr>
          </a:lstStyle>
          <a:p>
            <a:pPr rtl="0"/>
            <a:r>
              <a:rPr lang="fr-FR"/>
              <a:t>Cliquez pour ajouter un titre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fr-FR">
                <a:latin typeface="+mn-lt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fr-FR" sz="1600"/>
            </a:lvl1pPr>
            <a:lvl2pPr marL="457200" indent="0">
              <a:buNone/>
              <a:defRPr lang="fr-FR" sz="1400"/>
            </a:lvl2pPr>
            <a:lvl3pPr marL="914400" indent="0">
              <a:buNone/>
              <a:defRPr lang="fr-FR" sz="1200"/>
            </a:lvl3pPr>
            <a:lvl4pPr marL="1371600" indent="0">
              <a:buNone/>
              <a:defRPr lang="fr-FR" sz="1000"/>
            </a:lvl4pPr>
            <a:lvl5pPr marL="1828800" indent="0">
              <a:buNone/>
              <a:defRPr lang="fr-FR" sz="1000"/>
            </a:lvl5pPr>
            <a:lvl6pPr marL="2286000" indent="0">
              <a:buNone/>
              <a:defRPr lang="fr-FR" sz="1000"/>
            </a:lvl6pPr>
            <a:lvl7pPr marL="2743200" indent="0">
              <a:buNone/>
              <a:defRPr lang="fr-FR" sz="1000"/>
            </a:lvl7pPr>
            <a:lvl8pPr marL="3200400" indent="0">
              <a:buNone/>
              <a:defRPr lang="fr-FR" sz="1000"/>
            </a:lvl8pPr>
            <a:lvl9pPr marL="3657600" indent="0">
              <a:buNone/>
              <a:defRPr lang="fr-FR" sz="1000"/>
            </a:lvl9pPr>
          </a:lstStyle>
          <a:p>
            <a:pPr lvl="0" rtl="0"/>
            <a:r>
              <a:rPr lang="fr-FR"/>
              <a:t>Cliquer pour ajouter du texte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fr-FR" sz="2800"/>
            </a:lvl1pPr>
            <a:lvl2pPr marL="457200" indent="0">
              <a:buNone/>
              <a:defRPr lang="fr-FR" sz="2800"/>
            </a:lvl2pPr>
            <a:lvl3pPr marL="914400" indent="0">
              <a:buNone/>
              <a:defRPr lang="fr-FR" sz="2400"/>
            </a:lvl3pPr>
            <a:lvl4pPr marL="1371600" indent="0">
              <a:buNone/>
              <a:defRPr lang="fr-FR" sz="2000"/>
            </a:lvl4pPr>
            <a:lvl5pPr marL="1828800" indent="0">
              <a:buNone/>
              <a:defRPr lang="fr-FR" sz="2000"/>
            </a:lvl5pPr>
            <a:lvl6pPr marL="2286000" indent="0">
              <a:buNone/>
              <a:defRPr lang="fr-FR" sz="2000"/>
            </a:lvl6pPr>
            <a:lvl7pPr marL="2743200" indent="0">
              <a:buNone/>
              <a:defRPr lang="fr-FR" sz="2000"/>
            </a:lvl7pPr>
            <a:lvl8pPr marL="3200400" indent="0">
              <a:buNone/>
              <a:defRPr lang="fr-FR" sz="2000"/>
            </a:lvl8pPr>
            <a:lvl9pPr marL="3657600" indent="0">
              <a:buNone/>
              <a:defRPr lang="fr-FR" sz="2000"/>
            </a:lvl9pPr>
          </a:lstStyle>
          <a:p>
            <a:pPr rtl="0"/>
            <a:r>
              <a:rPr lang="fr-FR"/>
              <a:t>Cliquez ici pour ajouter une image.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fr-FR"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rtl="0"/>
            <a:fld id="{48F63A3B-78C7-47BE-AE5E-E10140E0464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fr-FR"/>
            </a:defPPr>
          </a:lstStyle>
          <a:p>
            <a:pPr rtl="0"/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fr-FR"/>
            </a:defPPr>
          </a:lstStyle>
          <a:p>
            <a:pPr lvl="0" rtl="0"/>
            <a:r>
              <a:rPr lang="fr-FR"/>
              <a:t>Modifiez les styles du texte</a:t>
            </a:r>
          </a:p>
          <a:p>
            <a:pPr lvl="1" rtl="0"/>
            <a:r>
              <a:rPr lang="fr-FR"/>
              <a:t>Deuxième niveau</a:t>
            </a:r>
          </a:p>
          <a:p>
            <a:pPr lvl="2" rtl="0"/>
            <a:r>
              <a:rPr lang="fr-FR"/>
              <a:t>Troisième niveau</a:t>
            </a:r>
          </a:p>
          <a:p>
            <a:pPr lvl="3" rtl="0"/>
            <a:r>
              <a:rPr lang="fr-FR"/>
              <a:t>Quatrième niveau</a:t>
            </a:r>
          </a:p>
          <a:p>
            <a:pPr lvl="4" rtl="0"/>
            <a:r>
              <a:rPr lang="fr-FR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fr-FR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fr-FR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fr-F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7986" y="274199"/>
            <a:ext cx="7662041" cy="3831221"/>
          </a:xfrm>
        </p:spPr>
        <p:txBody>
          <a:bodyPr rtlCol="0" anchor="ctr"/>
          <a:lstStyle>
            <a:defPPr>
              <a:defRPr lang="fr-FR"/>
            </a:defPPr>
          </a:lstStyle>
          <a:p>
            <a:r>
              <a:rPr lang="fr-FR" sz="3200" dirty="0"/>
              <a:t>Application Web – Backoffice Dashboard:</a:t>
            </a:r>
            <a:br>
              <a:rPr lang="fr-FR" sz="3200" dirty="0"/>
            </a:br>
            <a:r>
              <a:rPr lang="fr-FR" sz="3200" dirty="0"/>
              <a:t>TechStore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BDE61D2-7108-162F-79FC-D3FEC962B6DA}"/>
              </a:ext>
            </a:extLst>
          </p:cNvPr>
          <p:cNvSpPr txBox="1"/>
          <p:nvPr/>
        </p:nvSpPr>
        <p:spPr>
          <a:xfrm>
            <a:off x="189186" y="4567479"/>
            <a:ext cx="33107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accent2"/>
                </a:solidFill>
              </a:rPr>
              <a:t>Réalisé par : Aglagal Meryem </a:t>
            </a:r>
          </a:p>
          <a:p>
            <a:r>
              <a:rPr lang="fr-FR" sz="2400" b="1" dirty="0">
                <a:solidFill>
                  <a:schemeClr val="accent2"/>
                </a:solidFill>
              </a:rPr>
              <a:t>Ammar Soundouss </a:t>
            </a:r>
          </a:p>
          <a:p>
            <a:r>
              <a:rPr lang="fr-FR" sz="2400" b="1" dirty="0">
                <a:solidFill>
                  <a:schemeClr val="accent2"/>
                </a:solidFill>
              </a:rPr>
              <a:t>Fikri Hiba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A0E0D67-C513-71B9-4EE1-D253BDA1416A}"/>
              </a:ext>
            </a:extLst>
          </p:cNvPr>
          <p:cNvSpPr txBox="1"/>
          <p:nvPr/>
        </p:nvSpPr>
        <p:spPr>
          <a:xfrm>
            <a:off x="7746124" y="5735523"/>
            <a:ext cx="294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>
                <a:solidFill>
                  <a:schemeClr val="bg1"/>
                </a:solidFill>
              </a:rPr>
              <a:t>Encadré par: Prof,Khadija Tlemçani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889" y="567560"/>
            <a:ext cx="10783613" cy="646386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Contexte et objectif du projet: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52A1DE2-8754-10E9-83CE-93E81C8805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51063" y="1840371"/>
            <a:ext cx="7137082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Développement d’une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Web de type Backoffice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Gestion de données et visualisation de statistiques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Application réalisée </a:t>
            </a: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HTML, CSS et JavaScript Vanilla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fr-FR" altLang="fr-FR" sz="20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0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Objectif principal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2000" b="1" i="0" u="none" strike="noStrike" cap="none" normalizeH="0" baseline="0" dirty="0">
              <a:ln>
                <a:noFill/>
              </a:ln>
              <a:solidFill>
                <a:srgbClr val="00206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créer une application professionnelle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manipuler le DOM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implémenter un CRUD complet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intégrer une API externe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79" y="0"/>
            <a:ext cx="8123918" cy="1760404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Technologies utilisées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B3171A4-8A38-C8AE-4EAD-C6B0B9FE2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3033" y="2235275"/>
            <a:ext cx="775663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HTML5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structure des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CSS3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et mise en forme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JavaScript Vanilla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logique métier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LocalStorage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persistance des données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Chart.js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: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graphiques statistiques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FontAwesome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icônes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FakeStoreAPI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données externes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855" y="147358"/>
            <a:ext cx="10704786" cy="1266303"/>
          </a:xfrm>
        </p:spPr>
        <p:txBody>
          <a:bodyPr rtlCol="0"/>
          <a:lstStyle>
            <a:defPPr>
              <a:defRPr lang="fr-FR"/>
            </a:defPPr>
          </a:lstStyle>
          <a:p>
            <a:r>
              <a:rPr lang="fr-FR" dirty="0"/>
              <a:t>Architecture de l’application (SPA)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0427" y="2169136"/>
            <a:ext cx="10531365" cy="3742933"/>
          </a:xfrm>
        </p:spPr>
        <p:txBody>
          <a:bodyPr rtlCol="0">
            <a:normAutofit/>
          </a:bodyPr>
          <a:lstStyle>
            <a:defPPr>
              <a:defRPr lang="fr-FR"/>
            </a:defPPr>
          </a:lstStyle>
          <a:p>
            <a:r>
              <a:rPr lang="fr-FR" dirty="0">
                <a:solidFill>
                  <a:schemeClr val="tx1"/>
                </a:solidFill>
              </a:rPr>
              <a:t>Application </a:t>
            </a:r>
            <a:r>
              <a:rPr lang="fr-FR" b="1" dirty="0">
                <a:solidFill>
                  <a:schemeClr val="accent2"/>
                </a:solidFill>
              </a:rPr>
              <a:t>Single Page Application (SPA)</a:t>
            </a:r>
            <a:endParaRPr lang="fr-FR" dirty="0">
              <a:solidFill>
                <a:schemeClr val="accent2"/>
              </a:solidFill>
            </a:endParaRPr>
          </a:p>
          <a:p>
            <a:r>
              <a:rPr lang="fr-FR" dirty="0">
                <a:solidFill>
                  <a:schemeClr val="tx1"/>
                </a:solidFill>
              </a:rPr>
              <a:t>Une seule page HTML</a:t>
            </a:r>
          </a:p>
          <a:p>
            <a:r>
              <a:rPr lang="fr-FR" dirty="0">
                <a:solidFill>
                  <a:schemeClr val="tx1"/>
                </a:solidFill>
              </a:rPr>
              <a:t>Navigation par sidebar</a:t>
            </a:r>
          </a:p>
          <a:p>
            <a:r>
              <a:rPr lang="fr-FR" dirty="0">
                <a:solidFill>
                  <a:schemeClr val="tx1"/>
                </a:solidFill>
              </a:rPr>
              <a:t>Sections affichées dynamiquement :</a:t>
            </a:r>
          </a:p>
          <a:p>
            <a:pPr lvl="1"/>
            <a:r>
              <a:rPr lang="fr-FR" dirty="0">
                <a:solidFill>
                  <a:schemeClr val="tx1"/>
                </a:solidFill>
              </a:rPr>
              <a:t>Dashboard</a:t>
            </a:r>
          </a:p>
          <a:p>
            <a:pPr lvl="1"/>
            <a:r>
              <a:rPr lang="fr-FR" dirty="0">
                <a:solidFill>
                  <a:schemeClr val="tx1"/>
                </a:solidFill>
              </a:rPr>
              <a:t>Module Produits</a:t>
            </a:r>
          </a:p>
          <a:p>
            <a:pPr lvl="1"/>
            <a:r>
              <a:rPr lang="fr-FR" dirty="0">
                <a:solidFill>
                  <a:schemeClr val="tx1"/>
                </a:solidFill>
              </a:rPr>
              <a:t>Module Catégories</a:t>
            </a:r>
          </a:p>
          <a:p>
            <a:r>
              <a:rPr lang="fr-FR" dirty="0">
                <a:solidFill>
                  <a:schemeClr val="tx1"/>
                </a:solidFill>
              </a:rPr>
              <a:t>Interface inspirée des </a:t>
            </a:r>
            <a:r>
              <a:rPr lang="fr-FR" b="1" dirty="0">
                <a:solidFill>
                  <a:schemeClr val="accent2"/>
                </a:solidFill>
              </a:rPr>
              <a:t>backoffices professionnels</a:t>
            </a:r>
            <a:endParaRPr lang="fr-FR" dirty="0">
              <a:solidFill>
                <a:schemeClr val="accent2"/>
              </a:solidFill>
            </a:endParaRPr>
          </a:p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4FB3B0-2821-79BE-E0F3-318EBCD7E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9779" y="195861"/>
            <a:ext cx="9412014" cy="994164"/>
          </a:xfrm>
        </p:spPr>
        <p:txBody>
          <a:bodyPr/>
          <a:lstStyle/>
          <a:p>
            <a:r>
              <a:rPr lang="fr-FR" sz="3200" dirty="0"/>
              <a:t>Module 1 : Produits (CRUD complet)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B1E1F46-AFFD-8247-E197-BC79C0569E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30492" y="5800727"/>
            <a:ext cx="551301" cy="471489"/>
          </a:xfrm>
        </p:spPr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5</a:t>
            </a:fld>
            <a:endParaRPr lang="fr-FR" dirty="0"/>
          </a:p>
        </p:txBody>
      </p:sp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F10033BE-7840-0D9C-AA6C-D8FC6B303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1765738"/>
            <a:ext cx="7965460" cy="403498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chemeClr val="accent2"/>
                </a:solidFill>
              </a:rPr>
              <a:t>Fonctionnalités principales :</a:t>
            </a:r>
          </a:p>
          <a:p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Ajouter un produit</a:t>
            </a:r>
          </a:p>
          <a:p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Afficher la liste des produits</a:t>
            </a:r>
          </a:p>
          <a:p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Recherche par nom</a:t>
            </a:r>
          </a:p>
          <a:p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Filtrage par catégorie</a:t>
            </a:r>
          </a:p>
          <a:p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Tri par nom et par prix</a:t>
            </a:r>
          </a:p>
          <a:p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Modifier un produit</a:t>
            </a:r>
          </a:p>
          <a:p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Supprimer avec confirmation</a:t>
            </a:r>
          </a:p>
          <a:p>
            <a:r>
              <a:rPr lang="fr-FR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Sauvegarde automatique (LocalStorage)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14035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F0F582-A5BC-32E6-EA0B-5652679F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6770" y="139118"/>
            <a:ext cx="7965461" cy="994164"/>
          </a:xfrm>
        </p:spPr>
        <p:txBody>
          <a:bodyPr/>
          <a:lstStyle/>
          <a:p>
            <a:r>
              <a:rPr lang="fr-FR" dirty="0"/>
              <a:t>Produits: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D49E17-0DA1-16EC-0681-2479F813BC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6</a:t>
            </a:fld>
            <a:endParaRPr lang="fr-FR" dirty="0"/>
          </a:p>
        </p:txBody>
      </p:sp>
      <p:pic>
        <p:nvPicPr>
          <p:cNvPr id="8" name="Image 7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450A3A66-DA6D-F524-1CF8-A43718F4A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406" y="1451363"/>
            <a:ext cx="9277407" cy="4529516"/>
          </a:xfrm>
          <a:prstGeom prst="rect">
            <a:avLst/>
          </a:prstGeom>
        </p:spPr>
      </p:pic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564EC7DF-0213-81F5-FC9C-A4F2C3DD77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1524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EFF8623-41FA-DC29-78A0-9854CC3B4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2841" y="195861"/>
            <a:ext cx="9443545" cy="994164"/>
          </a:xfrm>
        </p:spPr>
        <p:txBody>
          <a:bodyPr/>
          <a:lstStyle/>
          <a:p>
            <a:r>
              <a:rPr lang="fr-FR" dirty="0"/>
              <a:t>Module 2 : Catégories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F97850-50D2-B72E-C9EF-C78EDA1582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3200" b="1" dirty="0">
                <a:solidFill>
                  <a:schemeClr val="accent2"/>
                </a:solidFill>
              </a:rPr>
              <a:t>Fonctionnalités :</a:t>
            </a:r>
          </a:p>
          <a:p>
            <a:r>
              <a:rPr lang="fr-FR" sz="2400" dirty="0">
                <a:solidFill>
                  <a:schemeClr val="bg2">
                    <a:lumMod val="10000"/>
                  </a:schemeClr>
                </a:solidFill>
              </a:rPr>
              <a:t>Ajouter une catégorie</a:t>
            </a:r>
          </a:p>
          <a:p>
            <a:r>
              <a:rPr lang="fr-FR" sz="2400" dirty="0">
                <a:solidFill>
                  <a:schemeClr val="bg2">
                    <a:lumMod val="10000"/>
                  </a:schemeClr>
                </a:solidFill>
              </a:rPr>
              <a:t>Affichage de la liste des catégories</a:t>
            </a:r>
          </a:p>
          <a:p>
            <a:r>
              <a:rPr lang="fr-FR" sz="2400" dirty="0">
                <a:solidFill>
                  <a:schemeClr val="bg2">
                    <a:lumMod val="10000"/>
                  </a:schemeClr>
                </a:solidFill>
              </a:rPr>
              <a:t>Suppression d’une catégorie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3B21CC-6AF5-2DC9-9222-003D9BC416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60368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2EB142-4A4E-54AC-E8A1-1F0193332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9586" y="195861"/>
            <a:ext cx="7965461" cy="994164"/>
          </a:xfrm>
        </p:spPr>
        <p:txBody>
          <a:bodyPr/>
          <a:lstStyle/>
          <a:p>
            <a:r>
              <a:rPr lang="fr-FR" dirty="0"/>
              <a:t>Catégories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D528B4B-E171-CCAA-F55C-9F55839F23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8</a:t>
            </a:fld>
            <a:endParaRPr lang="fr-FR" dirty="0"/>
          </a:p>
        </p:txBody>
      </p:sp>
      <p:pic>
        <p:nvPicPr>
          <p:cNvPr id="10" name="Espace réservé du contenu 9" descr="Une image contenant texte, capture d’écran, nombre&#10;&#10;Le contenu généré par l’IA peut être incorrect.">
            <a:extLst>
              <a:ext uri="{FF2B5EF4-FFF2-40B4-BE49-F238E27FC236}">
                <a16:creationId xmlns:a16="http://schemas.microsoft.com/office/drawing/2014/main" id="{7553934E-42F0-C4F2-A278-49157222594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59111" y="1702676"/>
            <a:ext cx="9165027" cy="450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592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1B2EF0-37CD-CD22-F6E0-36D9D58D3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227" y="45867"/>
            <a:ext cx="7965461" cy="994164"/>
          </a:xfrm>
        </p:spPr>
        <p:txBody>
          <a:bodyPr/>
          <a:lstStyle/>
          <a:p>
            <a:r>
              <a:rPr lang="fr-FR" dirty="0"/>
              <a:t>Dashboard, KPI et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99D22E-9249-5AA7-6420-2FC0944F8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71834" y="1451363"/>
            <a:ext cx="7965460" cy="4381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b="1" dirty="0">
                <a:solidFill>
                  <a:schemeClr val="accent2"/>
                </a:solidFill>
              </a:rPr>
              <a:t>Dashboard :</a:t>
            </a:r>
            <a:endParaRPr lang="fr-FR" sz="2400" dirty="0">
              <a:solidFill>
                <a:schemeClr val="accent2"/>
              </a:solidFill>
            </a:endParaRPr>
          </a:p>
          <a:p>
            <a:r>
              <a:rPr lang="fr-FR" sz="2000" dirty="0">
                <a:solidFill>
                  <a:schemeClr val="tx1"/>
                </a:solidFill>
              </a:rPr>
              <a:t>Total des produits</a:t>
            </a:r>
          </a:p>
          <a:p>
            <a:r>
              <a:rPr lang="fr-FR" sz="2000" dirty="0">
                <a:solidFill>
                  <a:schemeClr val="tx1"/>
                </a:solidFill>
              </a:rPr>
              <a:t>Total des catégories</a:t>
            </a:r>
          </a:p>
          <a:p>
            <a:r>
              <a:rPr lang="fr-FR" sz="2000" dirty="0">
                <a:solidFill>
                  <a:schemeClr val="tx1"/>
                </a:solidFill>
              </a:rPr>
              <a:t>Valeur totale du stock</a:t>
            </a:r>
          </a:p>
          <a:p>
            <a:pPr marL="0" indent="0">
              <a:buNone/>
            </a:pPr>
            <a:r>
              <a:rPr lang="fr-FR" sz="2400" b="1" dirty="0">
                <a:solidFill>
                  <a:schemeClr val="accent1">
                    <a:lumMod val="90000"/>
                  </a:schemeClr>
                </a:solidFill>
              </a:rPr>
              <a:t>Graphique :</a:t>
            </a:r>
            <a:endParaRPr lang="fr-FR" sz="2400" dirty="0">
              <a:solidFill>
                <a:schemeClr val="accent1">
                  <a:lumMod val="90000"/>
                </a:schemeClr>
              </a:solidFill>
            </a:endParaRPr>
          </a:p>
          <a:p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Produits par catégorie (Chart.js)</a:t>
            </a:r>
          </a:p>
          <a:p>
            <a:pPr marL="0" indent="0">
              <a:buNone/>
            </a:pPr>
            <a:r>
              <a:rPr lang="fr-FR" sz="2400" b="1" dirty="0">
                <a:solidFill>
                  <a:schemeClr val="accent1">
                    <a:lumMod val="90000"/>
                  </a:schemeClr>
                </a:solidFill>
              </a:rPr>
              <a:t>API externe :</a:t>
            </a:r>
            <a:endParaRPr lang="fr-FR" sz="2400" dirty="0">
              <a:solidFill>
                <a:schemeClr val="accent1">
                  <a:lumMod val="90000"/>
                </a:schemeClr>
              </a:solidFill>
            </a:endParaRPr>
          </a:p>
          <a:p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FakeStoreAPI via fetch()</a:t>
            </a:r>
          </a:p>
          <a:p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Données JSON</a:t>
            </a:r>
          </a:p>
          <a:p>
            <a:r>
              <a:rPr lang="fr-F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Mise à jour automatique des KPI et graphiques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35FD55-0D75-9417-4DD7-12FA0921A8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393754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6882" y="63110"/>
            <a:ext cx="7965461" cy="994164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Dashboard:</a:t>
            </a:r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fld id="{48F63A3B-78C7-47BE-AE5E-E10140E04643}" type="slidenum">
              <a:rPr lang="fr-FR" smtClean="0"/>
              <a:pPr rtl="0"/>
              <a:t>10</a:t>
            </a:fld>
            <a:endParaRPr lang="fr-FR" dirty="0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BC33BB11-9D14-B9F5-EBE8-8A56C8C78C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pic>
        <p:nvPicPr>
          <p:cNvPr id="9" name="Image 8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2F27F4EC-503D-9EC0-D641-0643FCCA8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806" y="1907629"/>
            <a:ext cx="8360978" cy="413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B483FA-ADA3-83EB-8CAF-4514B2A3F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6" y="1057274"/>
            <a:ext cx="4611380" cy="1149898"/>
          </a:xfrm>
        </p:spPr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CA55DD-85DE-25B3-B544-5274B152A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48F63A3B-78C7-47BE-AE5E-E10140E04643}" type="slidenum">
              <a:rPr lang="fr-FR" smtClean="0"/>
              <a:pPr rtl="0"/>
              <a:t>11</a:t>
            </a:fld>
            <a:endParaRPr lang="fr-FR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35BA87F-565D-5715-6D63-25B10794F8D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60564" y="3082382"/>
            <a:ext cx="707080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Projet complet et fonctionnel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Maîtrise du JavaScript Vanilla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Implémentation d’un CRUD professionnel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Utilisation des API et des graphiques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400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Bonne préparation aux frameworks modernes</a:t>
            </a:r>
          </a:p>
        </p:txBody>
      </p:sp>
    </p:spTree>
    <p:extLst>
      <p:ext uri="{BB962C8B-B14F-4D97-AF65-F5344CB8AC3E}">
        <p14:creationId xmlns:p14="http://schemas.microsoft.com/office/powerpoint/2010/main" val="2238926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5614" y="2238703"/>
            <a:ext cx="8087709" cy="1481959"/>
          </a:xfrm>
        </p:spPr>
        <p:txBody>
          <a:bodyPr rtlCol="0"/>
          <a:lstStyle>
            <a:defPPr>
              <a:defRPr lang="fr-FR"/>
            </a:defPPr>
          </a:lstStyle>
          <a:p>
            <a:pPr rtl="0"/>
            <a:r>
              <a:rPr lang="fr-FR" dirty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nalisé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5_TF78438558_Win32" id="{3A360CBA-99A0-49ED-B63F-2D1627BB2518}" vid="{56FFFEFC-6F1D-4078-81C7-9B5A182BBA3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{AB376BF2-934B-4F0B-87E7-D2C705F8B21F}TF8a9b5915-b8c7-461e-8cdd-693d48b5e32310e906f8_win32-220c37ecc522</Template>
  <TotalTime>75</TotalTime>
  <Words>284</Words>
  <Application>Microsoft Office PowerPoint</Application>
  <PresentationFormat>Grand écran</PresentationFormat>
  <Paragraphs>79</Paragraphs>
  <Slides>12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Sabon Next LT</vt:lpstr>
      <vt:lpstr>Personnalisé</vt:lpstr>
      <vt:lpstr>Application Web – Backoffice Dashboard: TechStore</vt:lpstr>
      <vt:lpstr>Contexte et objectif du projet:</vt:lpstr>
      <vt:lpstr>Technologies utilisées</vt:lpstr>
      <vt:lpstr>Architecture de l’application (SPA)</vt:lpstr>
      <vt:lpstr>Module 1 : Produits (CRUD complet)</vt:lpstr>
      <vt:lpstr>Produits:</vt:lpstr>
      <vt:lpstr>Module 2 : Catégories</vt:lpstr>
      <vt:lpstr>Catégories</vt:lpstr>
      <vt:lpstr>Dashboard, KPI et API</vt:lpstr>
      <vt:lpstr>Dashboard:</vt:lpstr>
      <vt:lpstr>Conclusion</vt:lpstr>
      <vt:lpstr>Merci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Fikri Hiba</dc:creator>
  <cp:lastModifiedBy>Fikri Hiba</cp:lastModifiedBy>
  <cp:revision>3</cp:revision>
  <dcterms:created xsi:type="dcterms:W3CDTF">2026-01-14T14:34:20Z</dcterms:created>
  <dcterms:modified xsi:type="dcterms:W3CDTF">2026-01-14T15:49:34Z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